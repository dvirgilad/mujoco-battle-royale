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27624" y="1874519"/>
            <a:ext cx="310896" cy="310896"/>
          </a:xfrm>
          <a:prstGeom prst="ellipse">
            <a:avLst/>
          </a:prstGeom>
          <a:solidFill>
            <a:srgbClr val="E6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03112" y="1874519"/>
            <a:ext cx="310896" cy="310896"/>
          </a:xfrm>
          <a:prstGeom prst="ellipse">
            <a:avLst/>
          </a:prstGeom>
          <a:solidFill>
            <a:srgbClr val="3C7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78600" y="1874519"/>
            <a:ext cx="310896" cy="310896"/>
          </a:xfrm>
          <a:prstGeom prst="ellipse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54088" y="1874519"/>
            <a:ext cx="310896" cy="310896"/>
          </a:xfrm>
          <a:prstGeom prst="ellipse">
            <a:avLst/>
          </a:prstGeom>
          <a:solidFill>
            <a:srgbClr val="F2C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745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EEF1F8"/>
                </a:solidFill>
                <a:latin typeface="Segoe UI Semibold"/>
              </a:rPr>
              <a:t>MuJoCo Battle Royale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97A1B4"/>
                </a:solidFill>
                <a:latin typeface="Segoe UI"/>
              </a:rPr>
              <a:t>Emergent multi-agent sumo through self-play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EF1F8"/>
                </a:solidFill>
                <a:latin typeface="Segoe UI"/>
              </a:rPr>
              <a:t>One shared policy   →   </a:t>
            </a:r>
            <a:r>
              <a:rPr sz="2000" b="1" i="0">
                <a:solidFill>
                  <a:srgbClr val="35C872"/>
                </a:solidFill>
                <a:latin typeface="Segoe UI"/>
              </a:rPr>
              <a:t>balance</a:t>
            </a:r>
            <a:r>
              <a:rPr sz="2000" b="0" i="0">
                <a:solidFill>
                  <a:srgbClr val="97A1B4"/>
                </a:solidFill>
                <a:latin typeface="Segoe UI"/>
              </a:rPr>
              <a:t> · </a:t>
            </a:r>
            <a:r>
              <a:rPr sz="2000" b="1" i="0">
                <a:solidFill>
                  <a:srgbClr val="F2CD46"/>
                </a:solidFill>
                <a:latin typeface="Segoe UI"/>
              </a:rPr>
              <a:t>dominance</a:t>
            </a:r>
            <a:r>
              <a:rPr sz="2000" b="0" i="0">
                <a:solidFill>
                  <a:srgbClr val="97A1B4"/>
                </a:solidFill>
                <a:latin typeface="Segoe UI"/>
              </a:rPr>
              <a:t> · </a:t>
            </a:r>
            <a:r>
              <a:rPr sz="2000" b="1" i="0">
                <a:solidFill>
                  <a:srgbClr val="E63C3C"/>
                </a:solidFill>
                <a:latin typeface="Segoe UI"/>
              </a:rPr>
              <a:t>active pushing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74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7A1B4"/>
                </a:solidFill>
                <a:latin typeface="Segoe UI"/>
              </a:rPr>
              <a:t>Workshop in Autonomous Systems Simulation (20973)</a:t>
            </a:r>
          </a:p>
          <a:p>
            <a:pPr algn="ctr"/>
            <a:r>
              <a:rPr sz="1300" b="0" i="0">
                <a:solidFill>
                  <a:srgbClr val="97A1B4"/>
                </a:solidFill>
                <a:latin typeface="Segoe UI"/>
              </a:rPr>
              <a:t>Oshri Belay · Dvir Gilad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One policy, three behaviours — in the hard melee (n ≥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3383280" cy="109728"/>
          </a:xfrm>
          <a:prstGeom prst="roundRect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5C872"/>
                </a:solidFill>
                <a:latin typeface="Segoe UI Semibold"/>
              </a:rPr>
              <a:t>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0632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EF1F8"/>
                </a:solidFill>
                <a:latin typeface="Segoe UI"/>
              </a:rPr>
              <a:t>N identical copies each win ≈ 1/N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7A1B4"/>
                </a:solidFill>
                <a:latin typeface="Segoe UI"/>
              </a:rPr>
              <a:t>self-play converged to a fair equilibrium, no degenerate exploit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96596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2272" y="1965960"/>
            <a:ext cx="3383280" cy="109728"/>
          </a:xfrm>
          <a:prstGeom prst="roundRect">
            <a:avLst/>
          </a:prstGeom>
          <a:solidFill>
            <a:srgbClr val="F2C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2CD46"/>
                </a:solidFill>
                <a:latin typeface="Segoe UI Semibold"/>
              </a:rPr>
              <a:t>Dominance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0632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EF1F8"/>
                </a:solidFill>
                <a:latin typeface="Segoe UI"/>
              </a:rPr>
              <a:t>1 trained beats N−1 untrained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7A1B4"/>
                </a:solidFill>
                <a:latin typeface="Segoe UI"/>
              </a:rPr>
              <a:t>the learned behaviour is genuinely skilful, not mutually cancelling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965960"/>
            <a:ext cx="3383280" cy="329184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1965960"/>
            <a:ext cx="3383280" cy="109728"/>
          </a:xfrm>
          <a:prstGeom prst="roundRect">
            <a:avLst/>
          </a:prstGeom>
          <a:solidFill>
            <a:srgbClr val="E6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63C3C"/>
                </a:solidFill>
                <a:latin typeface="Segoe UI Semibold"/>
              </a:rPr>
              <a:t>Active pushing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06324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EF1F8"/>
                </a:solidFill>
                <a:latin typeface="Segoe UI"/>
              </a:rPr>
              <a:t>win by shoving opponents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7A1B4"/>
                </a:solidFill>
                <a:latin typeface="Segoe UI"/>
              </a:rPr>
              <a:t>not by outlasting a shrinking boundary — real ejection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E8BFF"/>
                </a:solidFill>
                <a:latin typeface="Segoe UI"/>
              </a:rPr>
              <a:t>Why it's hard: </a:t>
            </a:r>
            <a:r>
              <a:rPr sz="1500" b="0" i="0">
                <a:solidFill>
                  <a:srgbClr val="97A1B4"/>
                </a:solidFill>
                <a:latin typeface="Segoe UI"/>
              </a:rPr>
              <a:t>in a 3+ free-for-all, committing to a push exposes you to everyone else — the symmetric best response is to wait, so games collapse to cautious draws (0.07 resolution at n=4).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Clean Architecture — dependencies point inward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8412480" cy="841248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146304" cy="841248"/>
          </a:xfrm>
          <a:prstGeom prst="round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30552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E8BFF"/>
                </a:solidFill>
                <a:latin typeface="Segoe UI Semibold"/>
              </a:rPr>
              <a:t>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30552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EF1F8"/>
                </a:solidFill>
                <a:latin typeface="Segoe UI"/>
              </a:rPr>
              <a:t>SelfPlayEnv (Gym) · BattleRoyaleEnv (PettingZoo) · CLIs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80944"/>
            <a:ext cx="8412480" cy="841248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980944"/>
            <a:ext cx="146304" cy="841248"/>
          </a:xfrm>
          <a:prstGeom prst="roundRect">
            <a:avLst/>
          </a:prstGeom>
          <a:solidFill>
            <a:srgbClr val="46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6CDCD"/>
                </a:solidFill>
                <a:latin typeface="Segoe UI Semibold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99816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EF1F8"/>
                </a:solidFill>
                <a:latin typeface="Segoe UI"/>
              </a:rPr>
              <a:t>Trainer · Evaluator · SnapshotPool · MetricsTracker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8412480" cy="841248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950208"/>
            <a:ext cx="146304" cy="841248"/>
          </a:xfrm>
          <a:prstGeom prst="roundRect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5C872"/>
                </a:solidFill>
                <a:latin typeface="Segoe UI Semibold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69080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EF1F8"/>
                </a:solidFill>
                <a:latin typeface="Segoe UI"/>
              </a:rPr>
              <a:t>Agent · Arena · RewardCalculator · ObservationBuilder · EliminationService · Elo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19472"/>
            <a:ext cx="8412480" cy="841248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919472"/>
            <a:ext cx="146304" cy="841248"/>
          </a:xfrm>
          <a:prstGeom prst="roundRect">
            <a:avLst/>
          </a:prstGeom>
          <a:solidFill>
            <a:srgbClr val="F2C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038344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CD46"/>
                </a:solidFill>
                <a:latin typeface="Segoe UI Semibold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38344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EF1F8"/>
                </a:solidFill>
                <a:latin typeface="Segoe UI"/>
              </a:rPr>
              <a:t>MuJoCoEnvironment · XMLBuilder · loggers · VideoRecorder · YamlLoader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011680"/>
            <a:ext cx="1828800" cy="3694176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286000"/>
            <a:ext cx="15544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7A1B4"/>
                </a:solidFill>
                <a:latin typeface="Segoe UI"/>
              </a:rPr>
              <a:t>depend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7A1B4"/>
                </a:solidFill>
                <a:latin typeface="Segoe UI"/>
              </a:rPr>
              <a:t>only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7A1B4"/>
                </a:solidFill>
                <a:latin typeface="Segoe UI"/>
              </a:rPr>
              <a:t>inward</a:t>
            </a:r>
          </a:p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E8BFF"/>
                </a:solidFill>
                <a:latin typeface="Segoe UI"/>
              </a:rPr>
              <a:t>↓</a:t>
            </a:r>
          </a:p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EF1F8"/>
                </a:solidFill>
                <a:latin typeface="Segoe UI"/>
              </a:rPr>
              <a:t>reward &amp;</a:t>
            </a:r>
          </a:p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EEF1F8"/>
                </a:solidFill>
                <a:latin typeface="Segoe UI"/>
              </a:rPr>
              <a:t>observation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97A1B4"/>
                </a:solidFill>
                <a:latin typeface="Segoe UI"/>
              </a:rPr>
              <a:t>are pure fns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7A1B4"/>
                </a:solidFill>
                <a:latin typeface="Segoe UI"/>
              </a:rPr>
              <a:t>→ identical in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7A1B4"/>
                </a:solidFill>
                <a:latin typeface="Segoe UI"/>
              </a:rPr>
              <a:t>train/eval/render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46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6CDCD"/>
                </a:solidFill>
                <a:latin typeface="Segoe UI Semibold"/>
              </a:rPr>
              <a:t>PHYSICS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Each agent: a damped puck on two slide joints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5486400" cy="393192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6CDCD"/>
                </a:solidFill>
                <a:latin typeface="Segoe UI Semibold"/>
              </a:rPr>
              <a:t>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46CDCD"/>
                </a:solidFill>
                <a:latin typeface="Segoe UI"/>
              </a:rPr>
              <a:t>▸  </a:t>
            </a:r>
            <a:r>
              <a:rPr sz="1500" b="0">
                <a:solidFill>
                  <a:srgbClr val="EEF1F8"/>
                </a:solidFill>
                <a:latin typeface="Segoe UI"/>
              </a:rPr>
              <a:t>2-D force actuation, </a:t>
            </a:r>
            <a:r>
              <a:rPr sz="1500" b="1">
                <a:solidFill>
                  <a:srgbClr val="EEF1F8"/>
                </a:solidFill>
                <a:latin typeface="Segoe UI"/>
              </a:rPr>
              <a:t>no rotation</a:t>
            </a:r>
            <a:r>
              <a:rPr sz="1500" b="0">
                <a:solidFill>
                  <a:srgbClr val="EEF1F8"/>
                </a:solidFill>
                <a:latin typeface="Segoe UI"/>
              </a:rPr>
              <a:t> — F = 14·u per axis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6CDCD"/>
                </a:solidFill>
                <a:latin typeface="Segoe UI"/>
              </a:rPr>
              <a:t>▸  </a:t>
            </a:r>
            <a:r>
              <a:rPr sz="1500" b="0">
                <a:solidFill>
                  <a:srgbClr val="EEF1F8"/>
                </a:solidFill>
                <a:latin typeface="Segoe UI"/>
              </a:rPr>
              <a:t>Linear joint damping </a:t>
            </a:r>
            <a:r>
              <a:rPr sz="1500" b="0">
                <a:solidFill>
                  <a:srgbClr val="EEF1F8"/>
                </a:solidFill>
                <a:latin typeface="Consolas"/>
              </a:rPr>
              <a:t>c = 4</a:t>
            </a:r>
            <a:r>
              <a:rPr sz="1500" b="0">
                <a:solidFill>
                  <a:srgbClr val="EEF1F8"/>
                </a:solidFill>
                <a:latin typeface="Segoe UI"/>
              </a:rPr>
              <a:t> (not frictionless)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46CDCD"/>
                </a:solidFill>
                <a:latin typeface="Segoe UI"/>
              </a:rPr>
              <a:t>▸  </a:t>
            </a:r>
            <a:r>
              <a:rPr sz="1500" b="0">
                <a:solidFill>
                  <a:srgbClr val="EEF1F8"/>
                </a:solidFill>
                <a:latin typeface="Segoe UI"/>
              </a:rPr>
              <a:t>Cylinder = collision + mass; humanoid = visual only (0 mass)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343400"/>
            <a:ext cx="4846320" cy="1280160"/>
          </a:xfrm>
          <a:prstGeom prst="roundRect">
            <a:avLst>
              <a:gd name="adj" fmla="val 6000"/>
            </a:avLst>
          </a:prstGeom>
          <a:solidFill>
            <a:srgbClr val="0C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45262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F1F8"/>
                </a:solidFill>
                <a:latin typeface="Consolas"/>
              </a:rPr>
              <a:t>m·v̇ = F − c·v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5C872"/>
                </a:solidFill>
                <a:latin typeface="Consolas"/>
              </a:rPr>
              <a:t>terminal speed  v∞ = F/c = 3.5 m/s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7A1B4"/>
                </a:solidFill>
                <a:latin typeface="Segoe UI"/>
              </a:rPr>
              <a:t>(bounded — damping makes the task learnable)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65960"/>
            <a:ext cx="4754880" cy="3931920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EF1F8"/>
                </a:solidFill>
                <a:latin typeface="Segoe UI Semibold"/>
              </a:rPr>
              <a:t>Why damping is essential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26080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97A1B4"/>
                </a:solidFill>
                <a:latin typeface="Segoe UI"/>
              </a:rPr>
              <a:t>With </a:t>
            </a:r>
            <a:r>
              <a:rPr sz="1500" b="0" i="0">
                <a:solidFill>
                  <a:srgbClr val="E63C3C"/>
                </a:solidFill>
                <a:latin typeface="Consolas"/>
              </a:rPr>
              <a:t>c = 0</a:t>
            </a:r>
            <a:r>
              <a:rPr sz="1500" b="0" i="0">
                <a:solidFill>
                  <a:srgbClr val="EEF1F8"/>
                </a:solidFill>
                <a:latin typeface="Segoe UI"/>
              </a:rPr>
              <a:t> the arena is frictionless: any net force integrates into unbounded velocity and agents slide off the edge uncontrollably.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EEF1F8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EF1F8"/>
                </a:solidFill>
                <a:latin typeface="Segoe UI"/>
              </a:rPr>
              <a:t>“Winning” degenerates into being the last to fall off by accident — a 1/N artifact, not skill.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EEF1F8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6CDCD"/>
                </a:solidFill>
                <a:latin typeface="Segoe UI"/>
              </a:rPr>
              <a:t>Damping turns “impossible to control” into “a controllable sumo.”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E6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3C3C"/>
                </a:solidFill>
                <a:latin typeface="Segoe UI Semibold"/>
              </a:rPr>
              <a:t>PHYSICS · 2  —  THE 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The bottleneck was braking distance, not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7A1B4"/>
                </a:solidFill>
                <a:latin typeface="Segoe UI"/>
              </a:rPr>
              <a:t>Every reward trick failed at n ≥ 3 until we found the real constraint — a hard dynamical one: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10469880" cy="123444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EEF1F8"/>
                </a:solidFill>
                <a:latin typeface="Consolas"/>
              </a:rPr>
              <a:t>d_brake = v∞ · τ = (F/c)·(m/c) = F·m / c²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7A1B4"/>
                </a:solidFill>
                <a:latin typeface="Segoe UI"/>
              </a:rPr>
              <a:t>braking distance grows with mass — and mass = density ×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977639"/>
            <a:ext cx="146304" cy="1874519"/>
          </a:xfrm>
          <a:prstGeom prst="roundRect">
            <a:avLst/>
          </a:prstGeom>
          <a:solidFill>
            <a:srgbClr val="E6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16052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63C3C"/>
                </a:solidFill>
                <a:latin typeface="Segoe UI Semibold"/>
              </a:rPr>
              <a:t>Heavy  (ρ 1000, m ≈ 7 kg)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EF1F8"/>
                </a:solidFill>
                <a:latin typeface="Consolas"/>
              </a:rPr>
              <a:t>d_brake ≈ 5.5 m  ≫  1.2 m arena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7A1B4"/>
                </a:solidFill>
                <a:latin typeface="Segoe UI"/>
              </a:rPr>
              <a:t>cannot stop in the ring → caution + self-ejection; dominance capped at −0.26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146304" cy="1874519"/>
          </a:xfrm>
          <a:prstGeom prst="roundRect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5C872"/>
                </a:solidFill>
                <a:latin typeface="Segoe UI Semibold"/>
              </a:rPr>
              <a:t>Light  (ρ 150, m ≈ 1.1 kg)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EF1F8"/>
                </a:solidFill>
                <a:latin typeface="Consolas"/>
              </a:rPr>
              <a:t>d_brake ≈ 0.96 m  &lt;  1.2 m arena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7A1B4"/>
                </a:solidFill>
                <a:latin typeface="Segoe UI"/>
              </a:rPr>
              <a:t>can stop &amp; commit; shoves displace more → dominance +0.98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LEARNING ·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Every reward term fixes a specific failure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74519"/>
          <a:ext cx="740664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1417320"/>
                <a:gridCol w="40233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Term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Fixes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Win bonus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+10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winning (≈+13) dominates turtling (≈−1.2)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Elimination / Death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+1 / −1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signal for ejecting; penalty for self-ejecting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Survival / Time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+.001 / −.003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anti-suicide floor; idling mildly unprofitable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Push shaping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+2.0·Δ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dense gradient toward ejecting (potential-based)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Approach shaping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+0.4·Δ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learn to hunt a passive target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Edge penalty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−1·depth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stop overshooting your own edge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Draw penalty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= loss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kills the run-out-the-clock equilibrium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49640" y="1874519"/>
            <a:ext cx="2788920" cy="3840480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23774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6E8BFF"/>
                </a:solidFill>
                <a:latin typeface="Segoe UI Semibold"/>
              </a:rPr>
              <a:t>The one inequality</a:t>
            </a:r>
          </a:p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EF1F8"/>
                </a:solidFill>
                <a:latin typeface="Segoe U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C872"/>
                </a:solidFill>
                <a:latin typeface="Consolas"/>
              </a:rPr>
              <a:t>win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97A1B4"/>
                </a:solidFill>
                <a:latin typeface="Consolas"/>
              </a:rPr>
              <a:t>≈ +13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EEF1F8"/>
                </a:solidFill>
                <a:latin typeface="Segoe UI"/>
              </a:rPr>
              <a:t>≫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2CD46"/>
                </a:solidFill>
                <a:latin typeface="Consolas"/>
              </a:rPr>
              <a:t>turtle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97A1B4"/>
                </a:solidFill>
                <a:latin typeface="Consolas"/>
              </a:rPr>
              <a:t>≈ −1.2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EEF1F8"/>
                </a:solidFill>
                <a:latin typeface="Segoe UI"/>
              </a:rPr>
              <a:t>&gt;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E63C3C"/>
                </a:solidFill>
                <a:latin typeface="Consolas"/>
              </a:rPr>
              <a:t>suicide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97A1B4"/>
                </a:solidFill>
                <a:latin typeface="Consolas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7A1B4"/>
                </a:solidFill>
                <a:latin typeface="Segoe UI"/>
              </a:rPr>
              <a:t>Potential-based shaping (Ng et al. 1999): scaling it speeds learning without changing the optimum — so the annealed “aggression boost” is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LEARNING · SELF-PLAY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One shared policy vs a pool of its own past 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600">
                <a:solidFill>
                  <a:srgbClr val="6E8BFF"/>
                </a:solidFill>
                <a:latin typeface="Segoe UI"/>
              </a:rPr>
              <a:t>▸  </a:t>
            </a:r>
            <a:r>
              <a:rPr sz="1600" b="1">
                <a:solidFill>
                  <a:srgbClr val="EEF1F8"/>
                </a:solidFill>
                <a:latin typeface="Segoe UI"/>
              </a:rPr>
              <a:t>Single-agent view. </a:t>
            </a:r>
            <a:r>
              <a:rPr sz="1600" b="0">
                <a:solidFill>
                  <a:srgbClr val="97A1B4"/>
                </a:solidFill>
                <a:latin typeface="Segoe UI"/>
              </a:rPr>
              <a:t>SelfPlayEnv = one learner vs N−1 frozen opponents → a clean win/loss per episode.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6E8BFF"/>
                </a:solidFill>
                <a:latin typeface="Segoe UI"/>
              </a:rPr>
              <a:t>▸  </a:t>
            </a:r>
            <a:r>
              <a:rPr sz="1600" b="1">
                <a:solidFill>
                  <a:srgbClr val="EEF1F8"/>
                </a:solidFill>
                <a:latin typeface="Segoe UI"/>
              </a:rPr>
              <a:t>δ-uniform snapshot pool. </a:t>
            </a:r>
            <a:r>
              <a:rPr sz="1600" b="0">
                <a:solidFill>
                  <a:srgbClr val="97A1B4"/>
                </a:solidFill>
                <a:latin typeface="Segoe UI"/>
              </a:rPr>
              <a:t>Opponents sampled uniformly from all 100 past checkpoints — no Red-Queen cycling.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6E8BFF"/>
                </a:solidFill>
                <a:latin typeface="Segoe UI"/>
              </a:rPr>
              <a:t>▸  </a:t>
            </a:r>
            <a:r>
              <a:rPr sz="1600" b="1">
                <a:solidFill>
                  <a:srgbClr val="EEF1F8"/>
                </a:solidFill>
                <a:latin typeface="Segoe UI"/>
              </a:rPr>
              <a:t>Agent-count curriculum. </a:t>
            </a:r>
            <a:r>
              <a:rPr sz="1600" b="0">
                <a:solidFill>
                  <a:srgbClr val="97A1B4"/>
                </a:solidFill>
                <a:latin typeface="Segoe UI"/>
              </a:rPr>
              <a:t>Start at n=2 (zero exposure), ramp to n=4 — the shove skill forms 1v1 and is carried into the melee.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6E8BFF"/>
                </a:solidFill>
                <a:latin typeface="Segoe UI"/>
              </a:rPr>
              <a:t>▸  </a:t>
            </a:r>
            <a:r>
              <a:rPr sz="1600" b="1">
                <a:solidFill>
                  <a:srgbClr val="EEF1F8"/>
                </a:solidFill>
                <a:latin typeface="Segoe UI"/>
              </a:rPr>
              <a:t>Draw = loss + high γ (0.997). </a:t>
            </a:r>
            <a:r>
              <a:rPr sz="1600" b="0">
                <a:solidFill>
                  <a:srgbClr val="97A1B4"/>
                </a:solidFill>
                <a:latin typeface="Segoe UI"/>
              </a:rPr>
              <a:t>A timed-out draw costs like a death; γ reaches ~333 steps back so caution stops paying mid-game.</a:t>
            </a:r>
          </a:p>
          <a:p>
            <a:pPr>
              <a:spcAft>
                <a:spcPts val="1500"/>
              </a:spcAft>
            </a:pPr>
            <a:r>
              <a:rPr sz="1600">
                <a:solidFill>
                  <a:srgbClr val="6E8BFF"/>
                </a:solidFill>
                <a:latin typeface="Segoe UI"/>
              </a:rPr>
              <a:t>▸  </a:t>
            </a:r>
            <a:r>
              <a:rPr sz="1600" b="1">
                <a:solidFill>
                  <a:srgbClr val="EEF1F8"/>
                </a:solidFill>
                <a:latin typeface="Segoe UI"/>
              </a:rPr>
              <a:t>Rotation randomisation. </a:t>
            </a:r>
            <a:r>
              <a:rPr sz="1600" b="0">
                <a:solidFill>
                  <a:srgbClr val="97A1B4"/>
                </a:solidFill>
                <a:latin typeface="Segoe UI"/>
              </a:rPr>
              <a:t>Random spawn rotation each episode — the policy can't memorise a slot; enables the 1/N balance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32120"/>
            <a:ext cx="10469880" cy="868680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6692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"/>
              </a:rPr>
              <a:t>PPO </a:t>
            </a:r>
            <a:r>
              <a:rPr sz="1400" b="0" i="0">
                <a:solidFill>
                  <a:srgbClr val="EEF1F8"/>
                </a:solidFill>
                <a:latin typeface="Consolas"/>
              </a:rPr>
              <a:t>MlpPolicy 2×64 · lr 3e-4 · n_steps 2048 · γ 0.997 · 1.5 M steps ≈ 30–40 min on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5C872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One policy hits all three targets at n = 4 / 6, generalising to n =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617720"/>
            <a:ext cx="10469880" cy="137160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4617720"/>
            <a:ext cx="146304" cy="1371600"/>
          </a:xfrm>
          <a:prstGeom prst="roundRect">
            <a:avLst/>
          </a:prstGeom>
          <a:solidFill>
            <a:srgbClr val="35C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8006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EF1F8"/>
                </a:solidFill>
                <a:latin typeface="Segoe UI"/>
              </a:rPr>
              <a:t>At n=4: 99% wins vs three untrained opponents; four copies resolve 91% of games by a real push-out.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7A1B4"/>
                </a:solidFill>
                <a:latin typeface="Segoe UI"/>
              </a:rPr>
              <a:t>Zero-shot to n=8 (2× training): pushing holds (0.78), learner almost never eliminated (loss 0.01); edge softens to +0.56. Stable across 1.0–1.5 M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1965960"/>
          <a:ext cx="1046988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257800"/>
                <a:gridCol w="1234440"/>
                <a:gridCol w="1234440"/>
                <a:gridCol w="1234440"/>
                <a:gridCol w="15087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131C"/>
                          </a:solidFill>
                          <a:latin typeface="Segoe UI Semibold"/>
                        </a:rPr>
                        <a:t>Behaviour</a:t>
                      </a:r>
                    </a:p>
                  </a:txBody>
                  <a:tcPr marL="91440" marR="54864" marT="27432" marB="27432" anchor="ctr">
                    <a:solidFill>
                      <a:srgbClr val="6E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31C"/>
                          </a:solidFill>
                          <a:latin typeface="Segoe UI Semibold"/>
                        </a:rPr>
                        <a:t>n=2</a:t>
                      </a:r>
                    </a:p>
                  </a:txBody>
                  <a:tcPr marL="91440" marR="54864" marT="27432" marB="27432" anchor="ctr">
                    <a:solidFill>
                      <a:srgbClr val="6E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31C"/>
                          </a:solidFill>
                          <a:latin typeface="Segoe UI Semibold"/>
                        </a:rPr>
                        <a:t>n=4</a:t>
                      </a:r>
                    </a:p>
                  </a:txBody>
                  <a:tcPr marL="91440" marR="54864" marT="27432" marB="27432" anchor="ctr">
                    <a:solidFill>
                      <a:srgbClr val="6E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31C"/>
                          </a:solidFill>
                          <a:latin typeface="Segoe UI Semibold"/>
                        </a:rPr>
                        <a:t>n=6</a:t>
                      </a:r>
                    </a:p>
                  </a:txBody>
                  <a:tcPr marL="91440" marR="54864" marT="27432" marB="27432" anchor="ctr">
                    <a:solidFill>
                      <a:srgbClr val="6E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31C"/>
                          </a:solidFill>
                          <a:latin typeface="Segoe UI Semibold"/>
                        </a:rPr>
                        <a:t>n=8</a:t>
                      </a:r>
                    </a:p>
                  </a:txBody>
                  <a:tcPr marL="91440" marR="54864" marT="27432" marB="27432" anchor="ctr">
                    <a:solidFill>
                      <a:srgbClr val="6E8B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EEF1F8"/>
                          </a:solidFill>
                          <a:latin typeface="Segoe UI"/>
                        </a:rPr>
                        <a:t>Active pushing  (self-play resolution, no storm)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0.88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35C872"/>
                          </a:solidFill>
                          <a:latin typeface="Consolas"/>
                        </a:rPr>
                        <a:t>0.91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0.78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EEF1F8"/>
                          </a:solidFill>
                          <a:latin typeface="Segoe UI"/>
                        </a:rPr>
                        <a:t>Dominance edge  (1 trained vs n−1 random)</a:t>
                      </a:r>
                    </a:p>
                  </a:txBody>
                  <a:tcPr marL="91440" marR="54864" marT="27432" marB="27432" anchor="ctr">
                    <a:solidFill>
                      <a:srgbClr val="222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+1.00</a:t>
                      </a:r>
                    </a:p>
                  </a:txBody>
                  <a:tcPr marL="91440" marR="54864" marT="27432" marB="27432" anchor="ctr">
                    <a:solidFill>
                      <a:srgbClr val="222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35C872"/>
                          </a:solidFill>
                          <a:latin typeface="Consolas"/>
                        </a:rPr>
                        <a:t>+0.98</a:t>
                      </a:r>
                    </a:p>
                  </a:txBody>
                  <a:tcPr marL="91440" marR="54864" marT="27432" marB="27432" anchor="ctr">
                    <a:solidFill>
                      <a:srgbClr val="222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+0.85</a:t>
                      </a:r>
                    </a:p>
                  </a:txBody>
                  <a:tcPr marL="91440" marR="54864" marT="27432" marB="27432" anchor="ctr">
                    <a:solidFill>
                      <a:srgbClr val="222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+0.56</a:t>
                      </a:r>
                    </a:p>
                  </a:txBody>
                  <a:tcPr marL="91440" marR="54864" marT="27432" marB="27432" anchor="ctr">
                    <a:solidFill>
                      <a:srgbClr val="2225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EEF1F8"/>
                          </a:solidFill>
                          <a:latin typeface="Segoe UI"/>
                        </a:rPr>
                        <a:t>Balance  (per-slot share, ideal 1/n)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35C872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0.17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EEF1F8"/>
                          </a:solidFill>
                          <a:latin typeface="Consolas"/>
                        </a:rPr>
                        <a:t>0.13</a:t>
                      </a:r>
                    </a:p>
                  </a:txBody>
                  <a:tcPr marL="91440" marR="54864" marT="27432" marB="27432" anchor="ctr">
                    <a:solidFill>
                      <a:srgbClr val="1B1D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HOW WE GOT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The two levers that finally combined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920240"/>
          <a:ext cx="104698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3291840"/>
                <a:gridCol w="1097280"/>
                <a:gridCol w="1097280"/>
                <a:gridCol w="361188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2131C"/>
                          </a:solidFill>
                          <a:latin typeface="Segoe UI Semibold"/>
                        </a:rPr>
                        <a:t>Run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2131C"/>
                          </a:solidFill>
                          <a:latin typeface="Segoe UI Semibold"/>
                        </a:rPr>
                        <a:t>Change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2131C"/>
                          </a:solidFill>
                          <a:latin typeface="Segoe UI Semibold"/>
                        </a:rPr>
                        <a:t>n4 push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2131C"/>
                          </a:solidFill>
                          <a:latin typeface="Segoe UI Semibold"/>
                        </a:rPr>
                        <a:t>n4 dom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2131C"/>
                          </a:solidFill>
                          <a:latin typeface="Segoe UI Semibold"/>
                        </a:rPr>
                        <a:t>Verdict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direct n=4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train straight at n=4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0.07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melee-risk equilibrium: all draws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curriculum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n=2→4 + aggression boost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0.64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−0.33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carries the shove in; can't clear randoms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sumo_arena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+ smaller arena + storm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~0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+0.08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storm resolves but replaces pushing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sumo_openai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+ draw = loss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0.26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−0.26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nails 1v1 (+0.90); n≥3 self-ejects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sumo_light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+ light agents (ρ 150)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0.91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Consolas"/>
                        </a:rPr>
                        <a:t>+0.98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EF1F8"/>
                          </a:solidFill>
                          <a:latin typeface="Segoe UI"/>
                        </a:rPr>
                        <a:t>braking &lt; arena → all three at once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EF1F8"/>
                </a:solidFill>
                <a:latin typeface="Segoe UI"/>
              </a:rPr>
              <a:t>Two independent unlocks: </a:t>
            </a:r>
            <a:r>
              <a:rPr sz="1500" b="0" i="0">
                <a:solidFill>
                  <a:srgbClr val="F2CD46"/>
                </a:solidFill>
                <a:latin typeface="Segoe UI"/>
              </a:rPr>
              <a:t>OpenAI's draw=loss incentive (nailed 1v1) </a:t>
            </a:r>
            <a:r>
              <a:rPr sz="1500" b="0" i="0">
                <a:solidFill>
                  <a:srgbClr val="97A1B4"/>
                </a:solidFill>
                <a:latin typeface="Segoe UI"/>
              </a:rPr>
              <a:t>+ </a:t>
            </a:r>
            <a:r>
              <a:rPr sz="1500" b="0" i="0">
                <a:solidFill>
                  <a:srgbClr val="35C872"/>
                </a:solidFill>
                <a:latin typeface="Segoe UI"/>
              </a:rPr>
              <a:t>the mass / braking-distance physics fix (removed the self-ejection ceiling).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F2C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D46"/>
                </a:solidFill>
                <a:latin typeface="Segoe UI Semibold"/>
              </a:rPr>
              <a:t>HONESTY — A 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Perfect balance is fragile — and that's the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7A1B4"/>
                </a:solidFill>
                <a:latin typeface="Segoe UI"/>
              </a:rPr>
              <a:t>sumo_light's n=4 share is slightly uneven (≈ [.20 .19 .32 .29]) from an observation tie-break on the symmetric spawn. All three fixes evened it — but each collapsed the aggression: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788920"/>
          <a:ext cx="1046988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1828800"/>
                <a:gridCol w="3154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Fix attempted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Balance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31C"/>
                          </a:solidFill>
                          <a:latin typeface="Segoe UI Semibold"/>
                        </a:rPr>
                        <a:t>Cost</a:t>
                      </a:r>
                    </a:p>
                  </a:txBody>
                  <a:tcPr marL="109728" marR="91440" marT="45720" marB="45720" anchor="ctr">
                    <a:solidFill>
                      <a:srgbClr val="6E8B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Spawn jitter (angular + radial)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evened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3C3C"/>
                          </a:solidFill>
                          <a:latin typeface="Segoe UI"/>
                        </a:rPr>
                        <a:t>dominance +0.98 → +0.02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Spawn jitter (angular only)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evened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3C3C"/>
                          </a:solidFill>
                          <a:latin typeface="Segoe UI"/>
                        </a:rPr>
                        <a:t>pushing 0.91 → 0.24</a:t>
                      </a:r>
                    </a:p>
                  </a:txBody>
                  <a:tcPr marL="109728" marR="91440" marT="45720" marB="45720" anchor="ctr">
                    <a:solidFill>
                      <a:srgbClr val="22253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Observation neighbour-shuffle (no physics change)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EF1F8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3C3C"/>
                          </a:solidFill>
                          <a:latin typeface="Segoe UI"/>
                        </a:rPr>
                        <a:t>total passivity (0.00 everywhere)</a:t>
                      </a:r>
                    </a:p>
                  </a:txBody>
                  <a:tcPr marL="109728" marR="91440" marT="45720" marB="45720" anchor="ctr">
                    <a:solidFill>
                      <a:srgbClr val="1B1D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92040"/>
            <a:ext cx="10469880" cy="1143000"/>
          </a:xfrm>
          <a:prstGeom prst="roundRect">
            <a:avLst>
              <a:gd name="adj" fmla="val 6000"/>
            </a:avLst>
          </a:prstGeom>
          <a:solidFill>
            <a:srgbClr val="22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02920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CD46"/>
                </a:solidFill>
                <a:latin typeface="Segoe UI"/>
              </a:rPr>
              <a:t>The draw-penalty aggressive optimum is a knife-edge: </a:t>
            </a:r>
            <a:r>
              <a:rPr sz="1500" b="0" i="0">
                <a:solidFill>
                  <a:srgbClr val="EEF1F8"/>
                </a:solidFill>
                <a:latin typeface="Segoe UI"/>
              </a:rPr>
              <a:t>clearing opponents is hard to learn, so any training-time noise tips the policy back to the safe passive draw-equilibrium. Perfect balance needs an equivariant architecture — future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E6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3C3C"/>
                </a:solidFill>
                <a:latin typeface="Segoe UI Semibold"/>
              </a:rPr>
              <a:t>SEE IT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EEF1F8"/>
                </a:solidFill>
                <a:latin typeface="Segoe UI Semibold"/>
              </a:rPr>
              <a:t>Emergent push-outs — and 1-vs-3 dominance</a:t>
            </a:r>
          </a:p>
        </p:txBody>
      </p:sp>
      <p:pic>
        <p:nvPicPr>
          <p:cNvPr id="5" name="Picture 4" descr="hero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074920" cy="2854642"/>
          </a:xfrm>
          <a:prstGeom prst="rect">
            <a:avLst/>
          </a:prstGeom>
        </p:spPr>
      </p:pic>
      <p:pic>
        <p:nvPicPr>
          <p:cNvPr id="6" name="Picture 5" descr="hero_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5074920" cy="28546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8920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EF1F8"/>
                </a:solidFill>
                <a:latin typeface="Segoe UI"/>
              </a:rPr>
              <a:t>Self-play n=4 — every winner ejects the 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8920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EF1F8"/>
                </a:solidFill>
                <a:latin typeface="Segoe UI"/>
              </a:rPr>
              <a:t>Dominance — </a:t>
            </a:r>
            <a:r>
              <a:rPr sz="1400" b="0" i="0">
                <a:solidFill>
                  <a:srgbClr val="97A1B4"/>
                </a:solidFill>
                <a:latin typeface="Segoe UI"/>
              </a:rPr>
              <a:t>red = trained, others random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10469880" cy="77724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65099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3C3C"/>
                </a:solidFill>
                <a:latin typeface="Segoe UI"/>
              </a:rPr>
              <a:t>▶  Full captioned reel: </a:t>
            </a:r>
            <a:r>
              <a:rPr sz="1500" b="0" i="0">
                <a:solidFill>
                  <a:srgbClr val="EEF1F8"/>
                </a:solidFill>
                <a:latin typeface="Consolas"/>
              </a:rPr>
              <a:t>media/battle_royale_results.mp4</a:t>
            </a:r>
            <a:r>
              <a:rPr sz="1400" b="0" i="0">
                <a:solidFill>
                  <a:srgbClr val="97A1B4"/>
                </a:solidFill>
                <a:latin typeface="Segoe UI"/>
              </a:rPr>
              <a:t>   (pushing, generalisation (n=6/8) &amp; dominance, ~80 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7A1B4"/>
                </a:solidFill>
                <a:latin typeface="Segoe UI"/>
              </a:rPr>
              <a:t>MuJoCo Battle Royale · self-play sumo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7A1B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28016" cy="384048"/>
          </a:xfrm>
          <a:prstGeom prst="rect">
            <a:avLst/>
          </a:prstGeom>
          <a:solidFill>
            <a:srgbClr val="6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48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 Semibold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F1F8"/>
                </a:solidFill>
                <a:latin typeface="Segoe UI Semibold"/>
              </a:rPr>
              <a:t>What made it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700">
                <a:solidFill>
                  <a:srgbClr val="6E8BFF"/>
                </a:solidFill>
                <a:latin typeface="Segoe UI"/>
              </a:rPr>
              <a:t>▸  </a:t>
            </a:r>
            <a:r>
              <a:rPr sz="1700" b="1">
                <a:solidFill>
                  <a:srgbClr val="EEF1F8"/>
                </a:solidFill>
                <a:latin typeface="Segoe UI"/>
              </a:rPr>
              <a:t>Physics can be the real bottleneck. </a:t>
            </a:r>
            <a:r>
              <a:rPr sz="1700" b="0">
                <a:solidFill>
                  <a:srgbClr val="97A1B4"/>
                </a:solidFill>
                <a:latin typeface="Segoe UI"/>
              </a:rPr>
              <a:t>A braking distance larger than the arena capped every reward-only attempt.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6E8BFF"/>
                </a:solidFill>
                <a:latin typeface="Segoe UI"/>
              </a:rPr>
              <a:t>▸  </a:t>
            </a:r>
            <a:r>
              <a:rPr sz="1700" b="1">
                <a:solidFill>
                  <a:srgbClr val="EEF1F8"/>
                </a:solidFill>
                <a:latin typeface="Segoe UI"/>
              </a:rPr>
              <a:t>Make draws cost. </a:t>
            </a:r>
            <a:r>
              <a:rPr sz="1700" b="0">
                <a:solidFill>
                  <a:srgbClr val="97A1B4"/>
                </a:solidFill>
                <a:latin typeface="Segoe UI"/>
              </a:rPr>
              <a:t>Scoring a timeout like a loss (+ high γ) destroys the cautious equilibrium.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6E8BFF"/>
                </a:solidFill>
                <a:latin typeface="Segoe UI"/>
              </a:rPr>
              <a:t>▸  </a:t>
            </a:r>
            <a:r>
              <a:rPr sz="1700" b="1">
                <a:solidFill>
                  <a:srgbClr val="EEF1F8"/>
                </a:solidFill>
                <a:latin typeface="Segoe UI"/>
              </a:rPr>
              <a:t>Curriculum the hard structure. </a:t>
            </a:r>
            <a:r>
              <a:rPr sz="1700" b="0">
                <a:solidFill>
                  <a:srgbClr val="97A1B4"/>
                </a:solidFill>
                <a:latin typeface="Segoe UI"/>
              </a:rPr>
              <a:t>Form the skill where it's easy (1v1), carry it into the melee.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6E8BFF"/>
                </a:solidFill>
                <a:latin typeface="Segoe UI"/>
              </a:rPr>
              <a:t>▸  </a:t>
            </a:r>
            <a:r>
              <a:rPr sz="1700" b="1">
                <a:solidFill>
                  <a:srgbClr val="EEF1F8"/>
                </a:solidFill>
                <a:latin typeface="Segoe UI"/>
              </a:rPr>
              <a:t>Symmetry is a tool and a trap. </a:t>
            </a:r>
            <a:r>
              <a:rPr sz="1700" b="0">
                <a:solidFill>
                  <a:srgbClr val="97A1B4"/>
                </a:solidFill>
                <a:latin typeface="Segoe UI"/>
              </a:rPr>
              <a:t>Rotation-randomisation buys 1/N balance; an observation tie-break costs a little back.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6E8BFF"/>
                </a:solidFill>
                <a:latin typeface="Segoe UI"/>
              </a:rPr>
              <a:t>▸  </a:t>
            </a:r>
            <a:r>
              <a:rPr sz="1700" b="1">
                <a:solidFill>
                  <a:srgbClr val="EEF1F8"/>
                </a:solidFill>
                <a:latin typeface="Segoe UI"/>
              </a:rPr>
              <a:t>Report the dead ends. </a:t>
            </a:r>
            <a:r>
              <a:rPr sz="1700" b="0">
                <a:solidFill>
                  <a:srgbClr val="97A1B4"/>
                </a:solidFill>
                <a:latin typeface="Segoe UI"/>
              </a:rPr>
              <a:t>The negative results localised the bottleneck and are documented in full.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532120"/>
            <a:ext cx="10469880" cy="868680"/>
          </a:xfrm>
          <a:prstGeom prst="roundRect">
            <a:avLst>
              <a:gd name="adj" fmla="val 60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6692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8BFF"/>
                </a:solidFill>
                <a:latin typeface="Segoe UI"/>
              </a:rPr>
              <a:t>Reproduce: </a:t>
            </a:r>
            <a:r>
              <a:rPr sz="1350" b="0" i="0">
                <a:solidFill>
                  <a:srgbClr val="EEF1F8"/>
                </a:solidFill>
                <a:latin typeface="Consolas"/>
              </a:rPr>
              <a:t>train --config config/sumo_light.yaml   ·   docs: METHODOLOGY.md · DESIGN.md · 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